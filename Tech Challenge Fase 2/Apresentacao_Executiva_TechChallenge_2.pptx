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C63911-8A3C-4025-A367-DCDA4C1E5B0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CF48A5-D8C9-41BC-AABA-A34CF4A4C8E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B5C8FB-8A10-444E-8FA2-CDCE66F5787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368EB7-E0C2-4DAE-8D6B-50281EEEBC4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69DAD9-BDBE-4127-B9DF-C8FD6D15A5B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C771BB-6D4E-4435-9333-FED32463838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DD2C0D-3D0D-4F78-8BEF-4AF11A5CC85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98747C-3F35-4183-87F4-809B0A8B64F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E3373A-CDB5-4E23-BF57-B3AEA3C4616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557937-36C1-49E8-95F4-29D1ADCDC75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duas vezes para adicionar uma figura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5C53E5-28EF-478E-9A3B-C7519F06E39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dt" idx="34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35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36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EACF42D-7166-4792-9138-AC55FEB4386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adrã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 rot="5400000">
            <a:off x="1166400" y="776880"/>
            <a:ext cx="4525560" cy="617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7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38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39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948119-01E7-4470-9368-8A1A22D458F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adrã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 rot="5400000">
            <a:off x="2818080" y="2428920"/>
            <a:ext cx="5851080" cy="154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 rot="5400000">
            <a:off x="-325080" y="942480"/>
            <a:ext cx="5851080" cy="451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40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ftr" idx="41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sldNum" idx="42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00B677F-4D2E-47A2-B7A2-D3CB5A447CB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14440" y="2130480"/>
            <a:ext cx="582912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dt" idx="43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ftr" idx="44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sldNum" idx="45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5BE5BF-9627-4CA6-A31F-83CB9FDE740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adrã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343080" y="1600200"/>
            <a:ext cx="61718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46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47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48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F1A5E7-B1D7-40AD-9CEE-F4BEA9EF7BE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41800" y="4406760"/>
            <a:ext cx="582912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41800" y="2906640"/>
            <a:ext cx="582912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9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50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51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34F9E0-29BE-43E2-87BF-80CD60AB0EB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adrã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343080" y="1600200"/>
            <a:ext cx="30286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486240" y="1600200"/>
            <a:ext cx="30286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52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53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54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B63E44-E4D2-4E7B-B0C2-6FFE9E9E31F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43080" y="1535040"/>
            <a:ext cx="30297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343080" y="2174760"/>
            <a:ext cx="30297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3483720" y="1535040"/>
            <a:ext cx="303120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3483720" y="2174760"/>
            <a:ext cx="303120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dt" idx="55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7"/>
          <p:cNvSpPr>
            <a:spLocks noGrp="1"/>
          </p:cNvSpPr>
          <p:nvPr>
            <p:ph type="ftr" idx="56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8"/>
          <p:cNvSpPr>
            <a:spLocks noGrp="1"/>
          </p:cNvSpPr>
          <p:nvPr>
            <p:ph type="sldNum" idx="57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113BA29-E3F8-4032-9F6A-B1A05FECF3C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43080" y="274680"/>
            <a:ext cx="617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dt" idx="58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ftr" idx="59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60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6B0505-811A-4E8E-8AB5-BFB2154A54B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43080" y="272880"/>
            <a:ext cx="225576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2681280" y="272880"/>
            <a:ext cx="383364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343080" y="1434960"/>
            <a:ext cx="225576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dt" idx="61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ftr" idx="62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sldNum" idx="63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2A40D61-EAAC-4490-B714-9A90E8C7129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344240" y="4800600"/>
            <a:ext cx="4114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pic"/>
          </p:nvPr>
        </p:nvSpPr>
        <p:spPr>
          <a:xfrm>
            <a:off x="1344240" y="61272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duas vezes para adicionar uma figura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1344240" y="5367240"/>
            <a:ext cx="41144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64"/>
          </p:nvPr>
        </p:nvSpPr>
        <p:spPr>
          <a:xfrm>
            <a:off x="343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65"/>
          </p:nvPr>
        </p:nvSpPr>
        <p:spPr>
          <a:xfrm>
            <a:off x="2343240" y="635652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66"/>
          </p:nvPr>
        </p:nvSpPr>
        <p:spPr>
          <a:xfrm>
            <a:off x="4915080" y="63565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C86643-6736-47E7-9D70-AF8C6152C3D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github.com/professoralessandro/FIAP-POS-TECH-AGENTESIA/blob/master/Tech%20Challenge%20Fase%202/assets/matriz_impacto_viabilidade_risco.png" TargetMode="External"/><Relationship Id="rId5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github.com/professoralessandro/FIAP-POS-TECH-AGENTESIA/blob/master/Tech%20Challenge%20Fase%202/assets/matriz_hcai_shneiderman.png" TargetMode="External"/><Relationship Id="rId5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hyperlink" Target="https://github.com/professoralessandro/FIAP-POS-TECH-AGENTESIA/blob/master/Tech%20Challenge%20Fase%202/assets/curva_tco_12meses.png" TargetMode="External"/><Relationship Id="rId5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59;p25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60;p25"/>
          <p:cNvSpPr/>
          <p:nvPr/>
        </p:nvSpPr>
        <p:spPr>
          <a:xfrm>
            <a:off x="685800" y="1715040"/>
            <a:ext cx="777204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 Oportunidade à Arquitetura Executável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61;p25"/>
          <p:cNvSpPr/>
          <p:nvPr/>
        </p:nvSpPr>
        <p:spPr>
          <a:xfrm>
            <a:off x="1028880" y="3222000"/>
            <a:ext cx="70862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350" b="0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Estratégia Corporativa de IA Agêntica: Governança, Topologias Multiagentes e Viabilidade Econômica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2;p25"/>
          <p:cNvSpPr/>
          <p:nvPr/>
        </p:nvSpPr>
        <p:spPr>
          <a:xfrm>
            <a:off x="1714680" y="4590000"/>
            <a:ext cx="57146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Consultoria de IA Agêntica  |  Setembro 2026  |  Caso Olist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Google Shape;164;p25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165;p25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Google Shape;166;p25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Agentes de 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67;p25"/>
          <p:cNvSpPr/>
          <p:nvPr/>
        </p:nvSpPr>
        <p:spPr>
          <a:xfrm>
            <a:off x="301320" y="5766840"/>
            <a:ext cx="849672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Alessandro Dos Santos (RM376092)  |  André Palermo (RM374038)  |  Michel Lages Balbuena (RM375667)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72;p26"/>
          <p:cNvSpPr/>
          <p:nvPr/>
        </p:nvSpPr>
        <p:spPr>
          <a:xfrm>
            <a:off x="0" y="0"/>
            <a:ext cx="920880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73;p26"/>
          <p:cNvSpPr/>
          <p:nvPr/>
        </p:nvSpPr>
        <p:spPr>
          <a:xfrm>
            <a:off x="502920" y="951120"/>
            <a:ext cx="794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 O Funil de 6 Iniciativas: Da Ambiguidade à Priorização Formal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83;p26"/>
          <p:cNvSpPr/>
          <p:nvPr/>
        </p:nvSpPr>
        <p:spPr>
          <a:xfrm>
            <a:off x="548640" y="6126480"/>
            <a:ext cx="8046360" cy="18000"/>
          </a:xfrm>
          <a:prstGeom prst="rect">
            <a:avLst/>
          </a:prstGeom>
          <a:solidFill>
            <a:srgbClr val="3341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84;p26"/>
          <p:cNvSpPr/>
          <p:nvPr/>
        </p:nvSpPr>
        <p:spPr>
          <a:xfrm>
            <a:off x="548640" y="6217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Fonte: Dataset Público Olist (99k+ pedidos unificados) | Framework AI-RICE &amp; RAND Study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85;p26"/>
          <p:cNvSpPr/>
          <p:nvPr/>
        </p:nvSpPr>
        <p:spPr>
          <a:xfrm>
            <a:off x="6515280" y="6217920"/>
            <a:ext cx="207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Página 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187;p26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188;p26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Google Shape;189;p26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Agentes de 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189" descr="matriz_impacto_viabilidade_risco.png"/>
          <p:cNvPicPr/>
          <p:nvPr/>
        </p:nvPicPr>
        <p:blipFill>
          <a:blip r:embed="rId3"/>
          <a:stretch/>
        </p:blipFill>
        <p:spPr>
          <a:xfrm>
            <a:off x="548640" y="1783080"/>
            <a:ext cx="4160160" cy="38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ounded Rectangle 190">
            <a:hlinkClick r:id="rId4"/>
          </p:cNvPr>
          <p:cNvSpPr/>
          <p:nvPr/>
        </p:nvSpPr>
        <p:spPr>
          <a:xfrm>
            <a:off x="548640" y="5669280"/>
            <a:ext cx="4160160" cy="38376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>
              <a:lnSpc>
                <a:spcPct val="100000"/>
              </a:lnSpc>
            </a:pPr>
            <a:r>
              <a:rPr lang="pt-BR" sz="750" b="1" u="none" strike="noStrike">
                <a:solidFill>
                  <a:srgbClr val="EA1D5D"/>
                </a:solidFill>
                <a:effectLst/>
                <a:uFillTx/>
                <a:latin typeface="Arial"/>
                <a:ea typeface="Arial"/>
              </a:rPr>
              <a:t>🔗 Repositório GitHub (master) — matriz_impacto_viabilidade_risco.png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620" b="0" u="sng" strike="noStrike">
                <a:solidFill>
                  <a:srgbClr val="EA1D5D"/>
                </a:solidFill>
                <a:effectLst/>
                <a:uFillTx/>
                <a:latin typeface="Arial"/>
                <a:ea typeface="Arial"/>
              </a:rPr>
              <a:t>https://github.com/professoralessandro/FIAP-POS-TECH-AGENTESIA/blob/master/Tech%20Challenge%20Fase%202/assets/matriz_impacto_viabilidade_risco.png</a:t>
            </a:r>
            <a:endParaRPr lang="pt-BR" sz="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91"/>
          <p:cNvSpPr/>
          <p:nvPr/>
        </p:nvSpPr>
        <p:spPr>
          <a:xfrm>
            <a:off x="4846320" y="1783080"/>
            <a:ext cx="3748680" cy="426996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FILTROS METODOLÓGICOS (FASE 2)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Regra do Gargalo (MIT Sloan / Anthropic):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Viabilidade ditada estritamente pela menor nota técnica.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Matriz EPOCH de Diagnóstico: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Iniciativa F (Boletos) enviada para CRM clássico.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pt-BR" sz="110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RANKING FORMAL AI-RICE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1º Agente Reviews (CX): 864 pts [Agora]</a:t>
            </a:r>
            <a:br>
              <a:rPr sz="920"/>
            </a:b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2º Agente Logística: 400 pts [Em seguida]</a:t>
            </a:r>
            <a:br>
              <a:rPr sz="920"/>
            </a:b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3º Agente Sellers (Churn): 375 pts [Em seguida]</a:t>
            </a:r>
            <a:endParaRPr lang="pt-BR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pt-BR" sz="1000" b="1" u="none" strike="noStrike">
                <a:solidFill>
                  <a:srgbClr val="F87171"/>
                </a:solidFill>
                <a:effectLst/>
                <a:uFillTx/>
                <a:latin typeface="Arial"/>
                <a:ea typeface="Arial"/>
              </a:rPr>
              <a:t>DESCARTE PRECOCE CONSCIENTE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88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Reprecificação Autônoma (Iniciativa E):</a:t>
            </a:r>
            <a:br>
              <a:rPr sz="880"/>
            </a:br>
            <a:r>
              <a:rPr lang="pt-BR" sz="88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  Eliminada por Risco Crítico (4.8) e ausência de APIs.</a:t>
            </a:r>
            <a:endParaRPr lang="pt-BR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94;p27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95;p27"/>
          <p:cNvSpPr/>
          <p:nvPr/>
        </p:nvSpPr>
        <p:spPr>
          <a:xfrm>
            <a:off x="548640" y="841320"/>
            <a:ext cx="75524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2. Topologia Multiagente Hierárquica &amp; Loop Cognitivo BDI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202;p27"/>
          <p:cNvSpPr/>
          <p:nvPr/>
        </p:nvSpPr>
        <p:spPr>
          <a:xfrm>
            <a:off x="548640" y="6126480"/>
            <a:ext cx="8046360" cy="18000"/>
          </a:xfrm>
          <a:prstGeom prst="rect">
            <a:avLst/>
          </a:prstGeom>
          <a:solidFill>
            <a:srgbClr val="3341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203;p27"/>
          <p:cNvSpPr/>
          <p:nvPr/>
        </p:nvSpPr>
        <p:spPr>
          <a:xfrm>
            <a:off x="548640" y="6217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Topologia: Supervisor-Worker Pattern | Loop BDI | Padrão Arquitetural Cap. 1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204;p27"/>
          <p:cNvSpPr/>
          <p:nvPr/>
        </p:nvSpPr>
        <p:spPr>
          <a:xfrm>
            <a:off x="6515280" y="6217920"/>
            <a:ext cx="207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Página 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Google Shape;206;p27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oogle Shape;207;p27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Google Shape;208;p27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Agentes de 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208"/>
          <p:cNvSpPr/>
          <p:nvPr/>
        </p:nvSpPr>
        <p:spPr>
          <a:xfrm>
            <a:off x="548640" y="1920240"/>
            <a:ext cx="2559960" cy="411444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1. INGESTÃO &amp; LGPD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Gateway Kafka / Webhooks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Filtro Regex de PII: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Anonimização de CPF, telefones e nomes antes de atingir os modelos.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Trilha de Auditoria: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Conformidade com Art. 20 da LGPD (revisão humana expressa).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Blindagem de Dados Privados: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Zero Data Retention em provedores.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209"/>
          <p:cNvSpPr/>
          <p:nvPr/>
        </p:nvSpPr>
        <p:spPr>
          <a:xfrm>
            <a:off x="3291840" y="1920240"/>
            <a:ext cx="2559960" cy="411444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0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2. SUPERVISOR &amp; TAREFAS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Orquestrador Central: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Topologia Hierárquica Supervisor.</a:t>
            </a:r>
            <a:br>
              <a:rPr sz="850"/>
            </a:b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Loop Cognitivo BDI: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- Beliefs: Histórico Olist &amp; RAG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- Desires: Metas de NPS e SLA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- Intentions: Tool calling estruturado</a:t>
            </a:r>
            <a:br>
              <a:rPr sz="850"/>
            </a:b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Mapa de 6 Macroetapas: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1. Trigger ➔ 2. Ingestão/Tools ➔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3. Raciocínio CoT ➔ 4. Guardrails ➔</a:t>
            </a:r>
            <a:br>
              <a:rPr sz="850"/>
            </a:br>
            <a:r>
              <a:rPr lang="pt-BR" sz="85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5. Execução/HITL ➔ 6. Auditoria.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210"/>
          <p:cNvSpPr/>
          <p:nvPr/>
        </p:nvSpPr>
        <p:spPr>
          <a:xfrm>
            <a:off x="6035040" y="1920240"/>
            <a:ext cx="2559960" cy="411444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00" b="1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3. TRÍADE ESPECIALISTA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Agente 1 (Reviews &amp; CX):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NLU de sentimento e acolhimento.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Agente 2 (Logística):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Auditoria causal e SLAs de frete.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Agente 3 (Sellers/Churn):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Reativação da base de R$ 4,5M.</a:t>
            </a:r>
            <a:br>
              <a:rPr sz="900"/>
            </a:b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APIs Integradas:</a:t>
            </a:r>
            <a:br>
              <a:rPr sz="900"/>
            </a:br>
            <a:r>
              <a:rPr lang="pt-BR" sz="90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  Zendesk, Lakehouse e Rastreio.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213;p2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214;p28"/>
          <p:cNvSpPr/>
          <p:nvPr/>
        </p:nvSpPr>
        <p:spPr>
          <a:xfrm>
            <a:off x="548640" y="923400"/>
            <a:ext cx="84488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3. Human-Centered AI (HCAI), Storyboards &amp; Prompts de Produção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19;p28"/>
          <p:cNvSpPr/>
          <p:nvPr/>
        </p:nvSpPr>
        <p:spPr>
          <a:xfrm>
            <a:off x="548640" y="6126480"/>
            <a:ext cx="8046360" cy="18000"/>
          </a:xfrm>
          <a:prstGeom prst="rect">
            <a:avLst/>
          </a:prstGeom>
          <a:solidFill>
            <a:srgbClr val="3341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20;p28"/>
          <p:cNvSpPr/>
          <p:nvPr/>
        </p:nvSpPr>
        <p:spPr>
          <a:xfrm>
            <a:off x="548640" y="6217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Framework: Ben Shneiderman (HCAI) | Storyboards de 3 Jornadas | Contratos Estritos JSON Schema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21;p28"/>
          <p:cNvSpPr/>
          <p:nvPr/>
        </p:nvSpPr>
        <p:spPr>
          <a:xfrm>
            <a:off x="6515280" y="6217920"/>
            <a:ext cx="207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Página 4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Google Shape;223;p28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Google Shape;224;p28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Google Shape;225;p28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Agentes de 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225" descr="matriz_hcai_shneiderman.png"/>
          <p:cNvPicPr/>
          <p:nvPr/>
        </p:nvPicPr>
        <p:blipFill>
          <a:blip r:embed="rId3"/>
          <a:stretch/>
        </p:blipFill>
        <p:spPr>
          <a:xfrm>
            <a:off x="548640" y="1783080"/>
            <a:ext cx="4068720" cy="38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Rounded Rectangle 226">
            <a:hlinkClick r:id="rId4"/>
          </p:cNvPr>
          <p:cNvSpPr/>
          <p:nvPr/>
        </p:nvSpPr>
        <p:spPr>
          <a:xfrm>
            <a:off x="548640" y="5669280"/>
            <a:ext cx="4068720" cy="38376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>
              <a:lnSpc>
                <a:spcPct val="100000"/>
              </a:lnSpc>
            </a:pPr>
            <a:r>
              <a:rPr lang="pt-BR" sz="750" b="1" u="none" strike="noStrike">
                <a:solidFill>
                  <a:srgbClr val="EA1D5D"/>
                </a:solidFill>
                <a:effectLst/>
                <a:uFillTx/>
                <a:latin typeface="Arial"/>
                <a:ea typeface="Arial"/>
              </a:rPr>
              <a:t>🔗 Repositório GitHub (master) — matriz_hcai_shneiderman.png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620" b="0" u="sng" strike="noStrike">
                <a:solidFill>
                  <a:srgbClr val="EA1D5D"/>
                </a:solidFill>
                <a:effectLst/>
                <a:uFillTx/>
                <a:latin typeface="Arial"/>
                <a:ea typeface="Arial"/>
              </a:rPr>
              <a:t>https://github.com/professoralessandro/FIAP-POS-TECH-AGENTESIA/blob/master/Tech%20Challenge%20Fase%202/assets/matriz_hcai_shneiderman.png</a:t>
            </a:r>
            <a:endParaRPr lang="pt-BR" sz="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27"/>
          <p:cNvSpPr/>
          <p:nvPr/>
        </p:nvSpPr>
        <p:spPr>
          <a:xfrm>
            <a:off x="4754880" y="1783080"/>
            <a:ext cx="3840120" cy="426996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05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PILAR HCAI: AUTOMAÇÃO COM CONTROLE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Rejeita 'caixas pretas' sem supervisão. Agentes operam como Copilotos com Human-in-the-Loop (HITL) nos primeiros 90 dias.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pt-BR" sz="10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AS 3 JORNADAS OPERACIONAIS (MAPA DE TAREFAS)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82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[J1] Resolução CX: Rascunho pronto com validação 1-clique.</a:t>
            </a:r>
            <a:br>
              <a:rPr sz="820"/>
            </a:br>
            <a:r>
              <a:rPr lang="pt-BR" sz="82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[J2] Auditoria Frete: Isola seller de falhas dos Correios.</a:t>
            </a:r>
            <a:br>
              <a:rPr sz="820"/>
            </a:br>
            <a:r>
              <a:rPr lang="pt-BR" sz="820" b="0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• [J3] Reativação Churn: Cupons dentro da margem (&lt; 10%).</a:t>
            </a:r>
            <a:endParaRPr lang="pt-B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1000" b="1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ENGENHARIA DE PROMPTS DE PRODUÇÃO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82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System Prompts com Chain-of-Thought e Guardrails Éticos</a:t>
            </a:r>
            <a:br>
              <a:rPr sz="820"/>
            </a:br>
            <a:r>
              <a:rPr lang="pt-BR" sz="82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Few-Shot com dados autênticos do dataset Olist</a:t>
            </a:r>
            <a:br>
              <a:rPr sz="820"/>
            </a:br>
            <a:r>
              <a:rPr lang="pt-BR" sz="82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Contratos estritos de saída em JSON Schema formal</a:t>
            </a:r>
            <a:endParaRPr lang="pt-B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230;p29"/>
          <p:cNvSpPr/>
          <p:nvPr/>
        </p:nvSpPr>
        <p:spPr>
          <a:xfrm>
            <a:off x="0" y="-11160"/>
            <a:ext cx="9199080" cy="6857640"/>
          </a:xfrm>
          <a:prstGeom prst="rect">
            <a:avLst/>
          </a:prstGeom>
          <a:solidFill>
            <a:srgbClr val="0B0F19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31;p29"/>
          <p:cNvSpPr/>
          <p:nvPr/>
        </p:nvSpPr>
        <p:spPr>
          <a:xfrm>
            <a:off x="548640" y="932760"/>
            <a:ext cx="8092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4. Viabilidade Financeira, Governança e Transição para a Fase 3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36;p29"/>
          <p:cNvSpPr/>
          <p:nvPr/>
        </p:nvSpPr>
        <p:spPr>
          <a:xfrm>
            <a:off x="548640" y="6126480"/>
            <a:ext cx="8046360" cy="18000"/>
          </a:xfrm>
          <a:prstGeom prst="rect">
            <a:avLst/>
          </a:prstGeom>
          <a:solidFill>
            <a:srgbClr val="33415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pPr/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37;p29"/>
          <p:cNvSpPr/>
          <p:nvPr/>
        </p:nvSpPr>
        <p:spPr>
          <a:xfrm>
            <a:off x="548640" y="6217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Modelagem TCO em 12 Meses | Ponto de Equilíbrio no Mês 4 | Governança RACI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38;p29"/>
          <p:cNvSpPr/>
          <p:nvPr/>
        </p:nvSpPr>
        <p:spPr>
          <a:xfrm>
            <a:off x="6515280" y="6217920"/>
            <a:ext cx="207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Página 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/>
          </p:nvPr>
        </p:nvSpPr>
        <p:spPr>
          <a:xfrm>
            <a:off x="3188520" y="530640"/>
            <a:ext cx="255240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Tech Challenge – Fase 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Google Shape;240;p29"/>
          <p:cNvPicPr/>
          <p:nvPr/>
        </p:nvPicPr>
        <p:blipFill>
          <a:blip r:embed="rId1"/>
          <a:stretch/>
        </p:blipFill>
        <p:spPr>
          <a:xfrm>
            <a:off x="6496560" y="72720"/>
            <a:ext cx="25524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Google Shape;241;p29"/>
          <p:cNvPicPr/>
          <p:nvPr/>
        </p:nvPicPr>
        <p:blipFill>
          <a:blip r:embed="rId2"/>
          <a:stretch/>
        </p:blipFill>
        <p:spPr>
          <a:xfrm>
            <a:off x="57960" y="88560"/>
            <a:ext cx="20599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Google Shape;242;p29"/>
          <p:cNvSpPr/>
          <p:nvPr/>
        </p:nvSpPr>
        <p:spPr>
          <a:xfrm>
            <a:off x="3180240" y="104760"/>
            <a:ext cx="2626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Agentes de 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Picture 242" descr="curva_tco_12meses.png"/>
          <p:cNvPicPr/>
          <p:nvPr/>
        </p:nvPicPr>
        <p:blipFill>
          <a:blip r:embed="rId3"/>
          <a:stretch/>
        </p:blipFill>
        <p:spPr>
          <a:xfrm>
            <a:off x="548640" y="1783080"/>
            <a:ext cx="4160160" cy="38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ounded Rectangle 243">
            <a:hlinkClick r:id="rId4"/>
          </p:cNvPr>
          <p:cNvSpPr/>
          <p:nvPr/>
        </p:nvSpPr>
        <p:spPr>
          <a:xfrm>
            <a:off x="548640" y="5669280"/>
            <a:ext cx="4160160" cy="38376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>
              <a:lnSpc>
                <a:spcPct val="100000"/>
              </a:lnSpc>
            </a:pPr>
            <a:r>
              <a:rPr lang="pt-BR" sz="750" b="1" u="none" strike="noStrike">
                <a:solidFill>
                  <a:srgbClr val="EA1D5D"/>
                </a:solidFill>
                <a:effectLst/>
                <a:uFillTx/>
                <a:latin typeface="Arial"/>
                <a:ea typeface="Arial"/>
              </a:rPr>
              <a:t>🔗 Repositório GitHub (master) — curva_tco_12meses.png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620" b="0" u="sng" strike="noStrike">
                <a:solidFill>
                  <a:srgbClr val="EA1D5D"/>
                </a:solidFill>
                <a:effectLst/>
                <a:uFillTx/>
                <a:latin typeface="Arial"/>
                <a:ea typeface="Arial"/>
              </a:rPr>
              <a:t>https://github.com/professoralessandro/FIAP-POS-TECH-AGENTESIA/blob/master/Tech%20Challenge%20Fase%202/assets/curva_tco_12meses.png</a:t>
            </a:r>
            <a:endParaRPr lang="pt-BR" sz="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244"/>
          <p:cNvSpPr/>
          <p:nvPr/>
        </p:nvSpPr>
        <p:spPr>
          <a:xfrm>
            <a:off x="4846320" y="1783080"/>
            <a:ext cx="3748680" cy="4269960"/>
          </a:xfrm>
          <a:prstGeom prst="roundRect">
            <a:avLst>
              <a:gd name="adj" fmla="val 16667"/>
            </a:avLst>
          </a:prstGeom>
          <a:solidFill>
            <a:srgbClr val="141B2D"/>
          </a:solidFill>
          <a:ln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050" b="1" u="none" strike="noStrike">
                <a:solidFill>
                  <a:srgbClr val="34D399"/>
                </a:solidFill>
                <a:effectLst/>
                <a:uFillTx/>
                <a:latin typeface="Arial"/>
                <a:ea typeface="Arial"/>
              </a:rPr>
              <a:t>RETORNO FINANCEIRO DO TCO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pt-BR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Break-Even Operacional: MÊS 4</a:t>
            </a:r>
            <a:br>
              <a:rPr sz="900"/>
            </a:br>
            <a:r>
              <a:rPr lang="pt-BR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Custo por Ticket: De R$ 14,80 para R$ 2,40</a:t>
            </a:r>
            <a:br>
              <a:rPr sz="900"/>
            </a:br>
            <a:r>
              <a:rPr lang="pt-BR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(-83,8% de redução no custo operacional)</a:t>
            </a:r>
            <a:br>
              <a:rPr sz="900"/>
            </a:br>
            <a:r>
              <a:rPr lang="pt-BR" sz="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DPO com Poder de Veto &amp; Kill Switch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1050" b="1" u="none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BENCHMARKING LOW-CODE (FASE 3)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Sem vendor lock-in prematuro. PoC técnica entre:</a:t>
            </a:r>
            <a:br>
              <a:rPr sz="850"/>
            </a:b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n8n (Soberania de dados / LGPD / Webhooks)</a:t>
            </a:r>
            <a:br>
              <a:rPr sz="850"/>
            </a:b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Dify.ai (LLMOps visual / Gestão de RAG)</a:t>
            </a:r>
            <a:br>
              <a:rPr sz="850"/>
            </a:b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LangFlow (Grafos agênticos complexos)</a:t>
            </a:r>
            <a:br>
              <a:rPr sz="850"/>
            </a:br>
            <a:r>
              <a:rPr lang="pt-BR" sz="8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• Make (Conectores SaaS rápidos)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pt-BR" sz="10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PEDIDO DE APROVAÇÃO C-LEVEL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Contratos de dados e schemas JSON validados.</a:t>
            </a:r>
            <a:br>
              <a:rPr sz="920"/>
            </a:br>
            <a:r>
              <a:rPr lang="pt-BR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Solicitamos aprovação para início da Fase 3!</a:t>
            </a:r>
            <a:endParaRPr lang="pt-BR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2026-10-13T10:46:56Z</dcterms:modified>
  <cp:revision>1</cp:revision>
  <dc:subject/>
  <dc:title/>
</cp:coreProperties>
</file>